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1203" r:id="rId2"/>
    <p:sldId id="1205" r:id="rId3"/>
  </p:sldIdLst>
  <p:sldSz cx="9906000" cy="6858000" type="A4"/>
  <p:notesSz cx="10234613" cy="71040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8" userDrawn="1">
          <p15:clr>
            <a:srgbClr val="A4A3A4"/>
          </p15:clr>
        </p15:guide>
        <p15:guide id="2" pos="322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19" d="100"/>
          <a:sy n="119" d="100"/>
        </p:scale>
        <p:origin x="1254" y="10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238"/>
        <p:guide pos="32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797249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3CD2ACDA-7BB5-4D83-9D1E-40BA6ED2D672}" type="datetimeFigureOut">
              <a:rPr lang="ko-KR" altLang="en-US" smtClean="0"/>
              <a:pPr/>
              <a:t>2025-12-04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797249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797249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1932AF9E-6075-47ED-A5F2-B86042DA2162}" type="datetimeFigureOut">
              <a:rPr lang="ko-KR" altLang="en-US" smtClean="0"/>
              <a:pPr/>
              <a:t>2025-12-04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87725" y="889000"/>
            <a:ext cx="3459163" cy="239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7" tIns="47379" rIns="94757" bIns="4737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3463" y="3418837"/>
            <a:ext cx="8187690" cy="2797225"/>
          </a:xfrm>
          <a:prstGeom prst="rect">
            <a:avLst/>
          </a:prstGeom>
        </p:spPr>
        <p:txBody>
          <a:bodyPr vert="horz" lIns="94757" tIns="47379" rIns="94757" bIns="4737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797249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B19250B4-8D56-4C9B-6C2C-28D0A472E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604"/>
            <a:ext cx="9906000" cy="4959310"/>
          </a:xfrm>
          <a:prstGeom prst="rect">
            <a:avLst/>
          </a:prstGeom>
        </p:spPr>
      </p:pic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116646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2" name="원호 11">
            <a:extLst>
              <a:ext uri="{FF2B5EF4-FFF2-40B4-BE49-F238E27FC236}">
                <a16:creationId xmlns:a16="http://schemas.microsoft.com/office/drawing/2014/main" id="{98984D53-B88A-9F9A-8D24-F3CD1C87E267}"/>
              </a:ext>
            </a:extLst>
          </p:cNvPr>
          <p:cNvSpPr/>
          <p:nvPr/>
        </p:nvSpPr>
        <p:spPr bwMode="auto">
          <a:xfrm>
            <a:off x="6840220" y="4116646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5320344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0" name="원호 19">
            <a:extLst>
              <a:ext uri="{FF2B5EF4-FFF2-40B4-BE49-F238E27FC236}">
                <a16:creationId xmlns:a16="http://schemas.microsoft.com/office/drawing/2014/main" id="{2BA1B61B-4BE2-1B16-483F-D8E417FDC3ED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545372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56537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52917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5" name="원호 24">
            <a:extLst>
              <a:ext uri="{FF2B5EF4-FFF2-40B4-BE49-F238E27FC236}">
                <a16:creationId xmlns:a16="http://schemas.microsoft.com/office/drawing/2014/main" id="{A5F702D9-61A3-A79A-6473-B2B63C4A617D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899816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281305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712819"/>
            <a:ext cx="217348" cy="217492"/>
          </a:xfrm>
          <a:prstGeom prst="arc">
            <a:avLst>
              <a:gd name="adj1" fmla="val 16200000"/>
              <a:gd name="adj2" fmla="val 14350074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80682"/>
            <a:ext cx="217348" cy="217492"/>
          </a:xfrm>
          <a:prstGeom prst="arc">
            <a:avLst>
              <a:gd name="adj1" fmla="val 16200000"/>
              <a:gd name="adj2" fmla="val 1875176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281305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712819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116646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3420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557178"/>
            <a:ext cx="217348" cy="217492"/>
          </a:xfrm>
          <a:prstGeom prst="arc">
            <a:avLst>
              <a:gd name="adj1" fmla="val 16200000"/>
              <a:gd name="adj2" fmla="val 15554481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557178"/>
            <a:ext cx="217348" cy="217492"/>
          </a:xfrm>
          <a:prstGeom prst="arc">
            <a:avLst>
              <a:gd name="adj1" fmla="val 16200000"/>
              <a:gd name="adj2" fmla="val 2096110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6" name="원호 65">
            <a:extLst>
              <a:ext uri="{FF2B5EF4-FFF2-40B4-BE49-F238E27FC236}">
                <a16:creationId xmlns:a16="http://schemas.microsoft.com/office/drawing/2014/main" id="{24DA44AC-F59E-DE20-80EA-06F2997EC3A5}"/>
              </a:ext>
            </a:extLst>
          </p:cNvPr>
          <p:cNvSpPr/>
          <p:nvPr/>
        </p:nvSpPr>
        <p:spPr bwMode="auto">
          <a:xfrm>
            <a:off x="6840220" y="4557178"/>
            <a:ext cx="217348" cy="217492"/>
          </a:xfrm>
          <a:prstGeom prst="arc">
            <a:avLst>
              <a:gd name="adj1" fmla="val 16200000"/>
              <a:gd name="adj2" fmla="val 2096110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712819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281305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8" name="원호 7">
            <a:extLst>
              <a:ext uri="{FF2B5EF4-FFF2-40B4-BE49-F238E27FC236}">
                <a16:creationId xmlns:a16="http://schemas.microsoft.com/office/drawing/2014/main" id="{69BF5CAE-67B4-055A-85A2-F9D028406767}"/>
              </a:ext>
            </a:extLst>
          </p:cNvPr>
          <p:cNvSpPr/>
          <p:nvPr/>
        </p:nvSpPr>
        <p:spPr bwMode="auto">
          <a:xfrm>
            <a:off x="6840220" y="3281305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86BE6-EA19-90ED-D15C-9F9CDA3A3CD9}"/>
              </a:ext>
            </a:extLst>
          </p:cNvPr>
          <p:cNvSpPr txBox="1"/>
          <p:nvPr/>
        </p:nvSpPr>
        <p:spPr>
          <a:xfrm>
            <a:off x="539750" y="5140701"/>
            <a:ext cx="82423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장학금 예측사용률 반영한 자료</a:t>
            </a:r>
            <a:endParaRPr lang="en-US" altLang="ko-KR" sz="110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STOB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리그 경진대회 수상자 해외연수 대상자가 없는 관계로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천만원 예산 확보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(Δ:</a:t>
            </a:r>
            <a:r>
              <a:rPr lang="en-US" altLang="ko-KR" sz="110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-10,000 </a:t>
            </a:r>
            <a:r>
              <a:rPr lang="ko-KR" altLang="en-US" sz="110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원고료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100p -&gt; 105p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지급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15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만원 증가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(Δ:</a:t>
            </a:r>
            <a:r>
              <a:rPr lang="en-US" altLang="ko-KR" sz="110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+150 </a:t>
            </a:r>
            <a:r>
              <a:rPr lang="ko-KR" altLang="en-US" sz="110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10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en-US" altLang="ko-KR" sz="110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유니위크 분담금 지불 완료 등 현 시점 소진율 반영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(86.9% -&gt; 93.4%)</a:t>
            </a:r>
            <a:b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</a:b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예정 사용 내용 업데이트</a:t>
            </a:r>
            <a:endParaRPr lang="en-US" altLang="ko-KR" sz="110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93DBE-5C4D-BE1B-A83E-C1B1A27CA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D3FC448-5031-D6CD-EB00-EA7CB6922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364"/>
            <a:ext cx="9906000" cy="3265902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A988DEEA-318D-9EBC-AF9C-953F6F867195}"/>
              </a:ext>
            </a:extLst>
          </p:cNvPr>
          <p:cNvSpPr txBox="1"/>
          <p:nvPr/>
        </p:nvSpPr>
        <p:spPr>
          <a:xfrm>
            <a:off x="330199" y="6338304"/>
            <a:ext cx="6978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(3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차년도 본예산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+ 2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차년도 이월금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3,597,690,651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원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B85627-99BB-95F5-09DD-494A3B198933}"/>
              </a:ext>
            </a:extLst>
          </p:cNvPr>
          <p:cNvSpPr txBox="1"/>
          <p:nvPr/>
        </p:nvSpPr>
        <p:spPr>
          <a:xfrm>
            <a:off x="155575" y="3773993"/>
            <a:ext cx="354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예산 활용 예정 내역 정리</a:t>
            </a: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7CE268-439B-6DD1-15A1-07177A4A2B36}"/>
              </a:ext>
            </a:extLst>
          </p:cNvPr>
          <p:cNvSpPr txBox="1"/>
          <p:nvPr/>
        </p:nvSpPr>
        <p:spPr>
          <a:xfrm>
            <a:off x="155575" y="4121150"/>
            <a:ext cx="17208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1. </a:t>
            </a:r>
            <a:r>
              <a:rPr lang="ko-KR" altLang="en-US"/>
              <a:t>본예산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인건비</a:t>
            </a:r>
            <a:endParaRPr lang="en-US" altLang="ko-KR"/>
          </a:p>
          <a:p>
            <a:r>
              <a:rPr lang="ko-KR" altLang="en-US"/>
              <a:t>시설</a:t>
            </a:r>
            <a:r>
              <a:rPr lang="en-US" altLang="ko-KR"/>
              <a:t>, </a:t>
            </a:r>
            <a:r>
              <a:rPr lang="ko-KR" altLang="en-US"/>
              <a:t>장비</a:t>
            </a:r>
            <a:endParaRPr lang="en-US" altLang="ko-KR"/>
          </a:p>
          <a:p>
            <a:r>
              <a:rPr lang="ko-KR" altLang="en-US"/>
              <a:t>연구재료비</a:t>
            </a:r>
            <a:endParaRPr lang="en-US" altLang="ko-KR"/>
          </a:p>
          <a:p>
            <a:r>
              <a:rPr lang="ko-KR" altLang="en-US"/>
              <a:t>연구활동비</a:t>
            </a:r>
            <a:endParaRPr lang="en-US" altLang="ko-K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A8B59A-3E8C-E83D-10FD-AA4C4B7318A5}"/>
              </a:ext>
            </a:extLst>
          </p:cNvPr>
          <p:cNvSpPr txBox="1"/>
          <p:nvPr/>
        </p:nvSpPr>
        <p:spPr>
          <a:xfrm>
            <a:off x="7966075" y="4121150"/>
            <a:ext cx="1895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2. </a:t>
            </a:r>
            <a:r>
              <a:rPr lang="ko-KR" altLang="en-US"/>
              <a:t>이월금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연구시설장비비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GPU 1</a:t>
            </a:r>
            <a:r>
              <a:rPr lang="ko-KR" altLang="en-US"/>
              <a:t>대</a:t>
            </a:r>
            <a:endParaRPr lang="en-US" altLang="ko-K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E0C070-3FF1-6795-4E51-8C167AE4738A}"/>
              </a:ext>
            </a:extLst>
          </p:cNvPr>
          <p:cNvSpPr txBox="1"/>
          <p:nvPr/>
        </p:nvSpPr>
        <p:spPr>
          <a:xfrm>
            <a:off x="1635125" y="4121150"/>
            <a:ext cx="63309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/>
          </a:p>
          <a:p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순차지급 </a:t>
            </a:r>
            <a:r>
              <a:rPr lang="en-US" altLang="ko-KR"/>
              <a:t>&amp; </a:t>
            </a:r>
            <a:r>
              <a:rPr lang="ko-KR" altLang="en-US"/>
              <a:t>참여교원 인센티브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3</a:t>
            </a:r>
            <a:r>
              <a:rPr lang="ko-KR" altLang="en-US"/>
              <a:t>차년도 도입장비 지출 진행 </a:t>
            </a:r>
            <a:r>
              <a:rPr lang="en-US" altLang="ko-KR"/>
              <a:t>(</a:t>
            </a:r>
            <a:r>
              <a:rPr lang="ko-KR" altLang="en-US"/>
              <a:t>도입 완료</a:t>
            </a:r>
            <a:r>
              <a:rPr lang="en-US" altLang="ko-KR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첨융 교육용 칩 제작비용 </a:t>
            </a:r>
            <a:r>
              <a:rPr lang="en-US" altLang="ko-KR"/>
              <a:t>+ </a:t>
            </a:r>
            <a:r>
              <a:rPr lang="ko-KR" altLang="en-US"/>
              <a:t>공정 및 재료비 지원 잔여내역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졸업 장학금 지급</a:t>
            </a:r>
            <a:endParaRPr lang="en-US" altLang="ko-K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2F06282-2880-78EA-8362-7FF686104698}"/>
                  </a:ext>
                </a:extLst>
              </p:cNvPr>
              <p:cNvSpPr txBox="1"/>
              <p:nvPr/>
            </p:nvSpPr>
            <p:spPr>
              <a:xfrm>
                <a:off x="5086350" y="3387159"/>
                <a:ext cx="3105150" cy="585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/>
                  <a:t>46.6%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본</m:t>
                            </m:r>
                            <m:r>
                              <a:rPr lang="ko-KR" altLang="en-US" sz="1400" i="1" smtClean="0">
                                <a:latin typeface="Cambria Math" panose="02040503050406030204" pitchFamily="18" charset="0"/>
                              </a:rPr>
                              <m:t>예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산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이</m:t>
                            </m:r>
                            <m:r>
                              <a:rPr lang="ko-KR" altLang="en-US" sz="1400" i="1" smtClean="0">
                                <a:latin typeface="Cambria Math" panose="02040503050406030204" pitchFamily="18" charset="0"/>
                              </a:rPr>
                              <m:t>월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금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활</m:t>
                            </m:r>
                            <m:r>
                              <a:rPr lang="ko-KR" altLang="en-US" sz="1400" i="1" smtClean="0">
                                <a:latin typeface="Cambria Math" panose="02040503050406030204" pitchFamily="18" charset="0"/>
                              </a:rPr>
                              <m:t>용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내</m:t>
                            </m:r>
                            <m:r>
                              <a:rPr lang="ko-KR" altLang="en-US" sz="1400" i="1" smtClean="0">
                                <a:latin typeface="Cambria Math" panose="02040503050406030204" pitchFamily="18" charset="0"/>
                              </a:rPr>
                              <m:t>역</m:t>
                            </m:r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본</m:t>
                            </m:r>
                            <m:r>
                              <a:rPr lang="ko-KR" altLang="en-US" sz="1400" i="1" smtClean="0">
                                <a:latin typeface="Cambria Math" panose="02040503050406030204" pitchFamily="18" charset="0"/>
                              </a:rPr>
                              <m:t>예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산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이</m:t>
                            </m:r>
                            <m:r>
                              <a:rPr lang="ko-KR" altLang="en-US" sz="1400" i="1" smtClean="0">
                                <a:latin typeface="Cambria Math" panose="02040503050406030204" pitchFamily="18" charset="0"/>
                              </a:rPr>
                              <m:t>월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금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편</m:t>
                            </m:r>
                            <m:r>
                              <a:rPr lang="ko-KR" altLang="en-US" sz="1400" i="1" smtClean="0">
                                <a:latin typeface="Cambria Math" panose="02040503050406030204" pitchFamily="18" charset="0"/>
                              </a:rPr>
                              <m:t>성</m:t>
                            </m:r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내</m:t>
                            </m:r>
                            <m:r>
                              <a:rPr lang="ko-KR" altLang="en-US" sz="1400" i="1" smtClean="0">
                                <a:latin typeface="Cambria Math" panose="02040503050406030204" pitchFamily="18" charset="0"/>
                              </a:rPr>
                              <m:t>역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ko-KR" sz="1400" b="0"/>
                  <a:t> </a:t>
                </a: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2F06282-2880-78EA-8362-7FF686104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350" y="3387159"/>
                <a:ext cx="3105150" cy="585930"/>
              </a:xfrm>
              <a:prstGeom prst="rect">
                <a:avLst/>
              </a:prstGeom>
              <a:blipFill>
                <a:blip r:embed="rId3"/>
                <a:stretch>
                  <a:fillRect l="-5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1121795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4473</TotalTime>
  <Words>129</Words>
  <Application>Microsoft Office PowerPoint</Application>
  <PresentationFormat>A4 용지(210x297mm)</PresentationFormat>
  <Paragraphs>24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굴림</vt:lpstr>
      <vt:lpstr>맑은 고딕</vt:lpstr>
      <vt:lpstr>함초롬돋움</vt:lpstr>
      <vt:lpstr>Arial</vt:lpstr>
      <vt:lpstr>Cambria Math</vt:lpstr>
      <vt:lpstr>Wingdings 2</vt:lpstr>
      <vt:lpstr>농악의 흥겨움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98</cp:revision>
  <cp:lastPrinted>2025-12-04T00:07:00Z</cp:lastPrinted>
  <dcterms:created xsi:type="dcterms:W3CDTF">2014-04-25T06:32:56Z</dcterms:created>
  <dcterms:modified xsi:type="dcterms:W3CDTF">2025-12-04T00:46:48Z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