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F5"/>
    <a:srgbClr val="DBDCE9"/>
    <a:srgbClr val="8D92C3"/>
    <a:srgbClr val="FFFFFF"/>
    <a:srgbClr val="0A0906"/>
    <a:srgbClr val="01FF01"/>
    <a:srgbClr val="006AFF"/>
    <a:srgbClr val="01FFFF"/>
    <a:srgbClr val="FF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19" d="100"/>
          <a:sy n="119" d="100"/>
        </p:scale>
        <p:origin x="1254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238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3CD2ACDA-7BB5-4D83-9D1E-40BA6ED2D672}" type="datetimeFigureOut">
              <a:rPr lang="ko-KR" altLang="en-US" smtClean="0"/>
              <a:pPr/>
              <a:t>2025-12-22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1932AF9E-6075-47ED-A5F2-B86042DA2162}" type="datetimeFigureOut">
              <a:rPr lang="ko-KR" altLang="en-US" smtClean="0"/>
              <a:pPr/>
              <a:t>2025-12-22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87725" y="889000"/>
            <a:ext cx="345916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7" tIns="47379" rIns="94757" bIns="473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418837"/>
            <a:ext cx="8187690" cy="2797225"/>
          </a:xfrm>
          <a:prstGeom prst="rect">
            <a:avLst/>
          </a:prstGeom>
        </p:spPr>
        <p:txBody>
          <a:bodyPr vert="horz" lIns="94757" tIns="47379" rIns="94757" bIns="473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9769E8-8E58-9ED5-90EA-95124C7B9751}"/>
              </a:ext>
            </a:extLst>
          </p:cNvPr>
          <p:cNvSpPr txBox="1"/>
          <p:nvPr/>
        </p:nvSpPr>
        <p:spPr>
          <a:xfrm>
            <a:off x="489407" y="112295"/>
            <a:ext cx="89271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4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차년도 계획서 초안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FDB9FA6-037E-882E-FC91-EB8E1C4C8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782219"/>
              </p:ext>
            </p:extLst>
          </p:nvPr>
        </p:nvGraphicFramePr>
        <p:xfrm>
          <a:off x="183816" y="1434439"/>
          <a:ext cx="4428289" cy="346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032">
                  <a:extLst>
                    <a:ext uri="{9D8B030D-6E8A-4147-A177-3AD203B41FA5}">
                      <a16:colId xmlns:a16="http://schemas.microsoft.com/office/drawing/2014/main" val="1038292080"/>
                    </a:ext>
                  </a:extLst>
                </a:gridCol>
                <a:gridCol w="3400257">
                  <a:extLst>
                    <a:ext uri="{9D8B030D-6E8A-4147-A177-3AD203B41FA5}">
                      <a16:colId xmlns:a16="http://schemas.microsoft.com/office/drawing/2014/main" val="4054912907"/>
                    </a:ext>
                  </a:extLst>
                </a:gridCol>
              </a:tblGrid>
              <a:tr h="2756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목차 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3688996"/>
                  </a:ext>
                </a:extLst>
              </a:tr>
              <a:tr h="411259"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28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</a:t>
                      </a:r>
                    </a:p>
                  </a:txBody>
                  <a:tcPr marL="28575" marR="28575" marT="0" marB="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사업개요</a:t>
                      </a: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지표관리계획</a:t>
                      </a: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1386393309"/>
                  </a:ext>
                </a:extLst>
              </a:tr>
              <a:tr h="2887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표지</a:t>
                      </a: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개인정보 동의서</a:t>
                      </a: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목차</a:t>
                      </a: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768319764"/>
                  </a:ext>
                </a:extLst>
              </a:tr>
              <a:tr h="224590"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28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</a:p>
                  </a:txBody>
                  <a:tcPr marL="28575" marR="28575" marT="0" marB="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1.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사업목표달성계획 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–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특성화 분야</a:t>
                      </a:r>
                    </a:p>
                  </a:txBody>
                  <a:tcPr marL="28575" marR="2857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279990"/>
                  </a:ext>
                </a:extLst>
              </a:tr>
              <a:tr h="2249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2.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사업목표달성계획 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–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인재양성 목표 설정</a:t>
                      </a:r>
                    </a:p>
                  </a:txBody>
                  <a:tcPr marL="28575" marR="2857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361573"/>
                  </a:ext>
                </a:extLst>
              </a:tr>
              <a:tr h="251006">
                <a:tc rowSpan="8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28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</a:p>
                  </a:txBody>
                  <a:tcPr marL="28575" marR="28575" marT="0" marB="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1.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사업추진현황</a:t>
                      </a: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대학교육현황</a:t>
                      </a: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1356273163"/>
                  </a:ext>
                </a:extLst>
              </a:tr>
              <a:tr h="251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2-1.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사업 추진 체계 및 운영계획</a:t>
                      </a:r>
                    </a:p>
                  </a:txBody>
                  <a:tcPr marL="28575" marR="2857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261887"/>
                  </a:ext>
                </a:extLst>
              </a:tr>
              <a:tr h="251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2-2.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반도체인재양성 및 산학협력센터 운영계획</a:t>
                      </a: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1734719995"/>
                  </a:ext>
                </a:extLst>
              </a:tr>
              <a:tr h="251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3-1.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첨단산업 교육 운영 현황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교육커리큘럼</a:t>
                      </a:r>
                    </a:p>
                  </a:txBody>
                  <a:tcPr marL="28575" marR="2857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378105"/>
                  </a:ext>
                </a:extLst>
              </a:tr>
              <a:tr h="251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3-2.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교과목현황 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첨융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융합전공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</a:p>
                  </a:txBody>
                  <a:tcPr marL="28575" marR="2857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71406"/>
                  </a:ext>
                </a:extLst>
              </a:tr>
              <a:tr h="251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3-3.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비교과 프로그램 현황</a:t>
                      </a:r>
                    </a:p>
                  </a:txBody>
                  <a:tcPr marL="28575" marR="2857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9477"/>
                  </a:ext>
                </a:extLst>
              </a:tr>
              <a:tr h="251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3-4.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인재양성 이행계획</a:t>
                      </a:r>
                    </a:p>
                  </a:txBody>
                  <a:tcPr marL="28575" marR="2857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34870"/>
                  </a:ext>
                </a:extLst>
              </a:tr>
              <a:tr h="251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3-5.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타 재정지원사업과의 차별성 및 연계 계획</a:t>
                      </a: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73902991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B26B7B7-5204-670C-BF65-0743E1C65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305938"/>
              </p:ext>
            </p:extLst>
          </p:nvPr>
        </p:nvGraphicFramePr>
        <p:xfrm>
          <a:off x="4682835" y="1434439"/>
          <a:ext cx="5094828" cy="4722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032">
                  <a:extLst>
                    <a:ext uri="{9D8B030D-6E8A-4147-A177-3AD203B41FA5}">
                      <a16:colId xmlns:a16="http://schemas.microsoft.com/office/drawing/2014/main" val="1038292080"/>
                    </a:ext>
                  </a:extLst>
                </a:gridCol>
                <a:gridCol w="4066796">
                  <a:extLst>
                    <a:ext uri="{9D8B030D-6E8A-4147-A177-3AD203B41FA5}">
                      <a16:colId xmlns:a16="http://schemas.microsoft.com/office/drawing/2014/main" val="4054912907"/>
                    </a:ext>
                  </a:extLst>
                </a:gridCol>
              </a:tblGrid>
              <a:tr h="2756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목차 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3688996"/>
                  </a:ext>
                </a:extLst>
              </a:tr>
              <a:tr h="411259">
                <a:tc rowSpan="10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28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</a:t>
                      </a:r>
                      <a:endParaRPr lang="en-US" altLang="ko-KR" sz="2800" b="0">
                        <a:solidFill>
                          <a:srgbClr val="333333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28575" marR="28575" marT="0" marB="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1.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세부추진내용 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-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교과목 개발개선 추진계획</a:t>
                      </a:r>
                    </a:p>
                  </a:txBody>
                  <a:tcPr marL="28575" marR="2857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393309"/>
                  </a:ext>
                </a:extLst>
              </a:tr>
              <a:tr h="2887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2-1.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교육 인프라 구축 및 관리계획 </a:t>
                      </a: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-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우수 교원 활용 계획</a:t>
                      </a: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768319764"/>
                  </a:ext>
                </a:extLst>
              </a:tr>
              <a:tr h="2887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2-2.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교육 실습 환경 구축 및 개선</a:t>
                      </a: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활용 계획</a:t>
                      </a: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2254404311"/>
                  </a:ext>
                </a:extLst>
              </a:tr>
              <a:tr h="2887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2-3.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안전관리 방안 운영계획</a:t>
                      </a: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</a:t>
                      </a: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360967717"/>
                  </a:ext>
                </a:extLst>
              </a:tr>
              <a:tr h="2245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3-1.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산학연계 활성화 계획 </a:t>
                      </a: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-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참여기업 구성 및 활용 계획</a:t>
                      </a: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2347279990"/>
                  </a:ext>
                </a:extLst>
              </a:tr>
              <a:tr h="2249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3-2.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산학연계 교육 활성화 계획</a:t>
                      </a: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3502361573"/>
                  </a:ext>
                </a:extLst>
              </a:tr>
              <a:tr h="251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4-1.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학사 운영 개편 추진계획 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-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학사 관련 제도 개선 계획</a:t>
                      </a:r>
                    </a:p>
                  </a:txBody>
                  <a:tcPr marL="28575" marR="2857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273163"/>
                  </a:ext>
                </a:extLst>
              </a:tr>
              <a:tr h="251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4-2.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교원 인사제도 개선 운영 계획</a:t>
                      </a:r>
                      <a:endParaRPr lang="en-US" altLang="ko-KR" sz="1200" b="0"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768261887"/>
                  </a:ext>
                </a:extLst>
              </a:tr>
              <a:tr h="47455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5.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학생 취업</a:t>
                      </a:r>
                      <a:endParaRPr lang="en-US" altLang="ko-KR" sz="1200" b="0">
                        <a:solidFill>
                          <a:srgbClr val="FFFFFF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6.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진학 지원 계획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</a:t>
                      </a:r>
                    </a:p>
                  </a:txBody>
                  <a:tcPr marL="28575" marR="2857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19995"/>
                  </a:ext>
                </a:extLst>
              </a:tr>
              <a:tr h="251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7. </a:t>
                      </a: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지자체 민간 대응투자금 활용계획</a:t>
                      </a:r>
                      <a:endParaRPr lang="en-US" altLang="ko-KR" sz="1200" b="0"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3089378105"/>
                  </a:ext>
                </a:extLst>
              </a:tr>
              <a:tr h="25100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2400" b="0">
                          <a:solidFill>
                            <a:srgbClr val="333333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</a:t>
                      </a:r>
                    </a:p>
                  </a:txBody>
                  <a:tcPr marL="28575" marR="2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재정투자 계획</a:t>
                      </a: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378971406"/>
                  </a:ext>
                </a:extLst>
              </a:tr>
              <a:tr h="25100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2400" b="0">
                          <a:solidFill>
                            <a:srgbClr val="333333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</a:p>
                  </a:txBody>
                  <a:tcPr marL="28575" marR="28575" marT="0" marB="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성과관리 계획</a:t>
                      </a:r>
                      <a:endParaRPr lang="en-US" altLang="ko-KR" sz="1200" b="0"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3071659477"/>
                  </a:ext>
                </a:extLst>
              </a:tr>
              <a:tr h="25100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2400" b="0">
                          <a:solidFill>
                            <a:srgbClr val="333333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6</a:t>
                      </a:r>
                    </a:p>
                  </a:txBody>
                  <a:tcPr marL="28575" marR="28575" marT="0" marB="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붙임</a:t>
                      </a: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</a:t>
                      </a: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2058134870"/>
                  </a:ext>
                </a:extLst>
              </a:tr>
              <a:tr h="25100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2400" b="0">
                          <a:solidFill>
                            <a:srgbClr val="333333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7</a:t>
                      </a:r>
                    </a:p>
                  </a:txBody>
                  <a:tcPr marL="28575" marR="28575" marT="0" marB="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별첨</a:t>
                      </a:r>
                      <a:r>
                        <a:rPr lang="en-US" altLang="ko-KR" sz="1200" b="0"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</a:t>
                      </a:r>
                    </a:p>
                  </a:txBody>
                  <a:tcPr marL="28575" marR="28575" marT="0" marB="0" anchor="ctr"/>
                </a:tc>
                <a:extLst>
                  <a:ext uri="{0D108BD9-81ED-4DB2-BD59-A6C34878D82A}">
                    <a16:rowId xmlns:a16="http://schemas.microsoft.com/office/drawing/2014/main" val="73902991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A4B8A66-AA80-CFBC-BFE8-3476200D2F26}"/>
              </a:ext>
            </a:extLst>
          </p:cNvPr>
          <p:cNvSpPr txBox="1"/>
          <p:nvPr/>
        </p:nvSpPr>
        <p:spPr>
          <a:xfrm>
            <a:off x="874294" y="961197"/>
            <a:ext cx="8157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목차 소개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D5A291-0396-FD9A-AC33-336E93CA6A76}"/>
              </a:ext>
            </a:extLst>
          </p:cNvPr>
          <p:cNvSpPr txBox="1"/>
          <p:nvPr/>
        </p:nvSpPr>
        <p:spPr>
          <a:xfrm>
            <a:off x="1499939" y="5385986"/>
            <a:ext cx="2751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사업개요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융합전공</a:t>
            </a:r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첨단융합 내용 포함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004A662-D657-8584-0BDB-2454DC3B6884}"/>
              </a:ext>
            </a:extLst>
          </p:cNvPr>
          <p:cNvSpPr/>
          <p:nvPr/>
        </p:nvSpPr>
        <p:spPr bwMode="auto">
          <a:xfrm>
            <a:off x="1271811" y="5767622"/>
            <a:ext cx="228128" cy="20806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A71008D-C64D-C295-B4C6-303470810230}"/>
              </a:ext>
            </a:extLst>
          </p:cNvPr>
          <p:cNvSpPr/>
          <p:nvPr/>
        </p:nvSpPr>
        <p:spPr bwMode="auto">
          <a:xfrm>
            <a:off x="1271811" y="5501088"/>
            <a:ext cx="228128" cy="208063"/>
          </a:xfrm>
          <a:prstGeom prst="rect">
            <a:avLst/>
          </a:prstGeom>
          <a:solidFill>
            <a:srgbClr val="EEEEF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11517E1-0855-5F60-CFE0-0B24308B96A4}"/>
              </a:ext>
            </a:extLst>
          </p:cNvPr>
          <p:cNvSpPr/>
          <p:nvPr/>
        </p:nvSpPr>
        <p:spPr bwMode="auto">
          <a:xfrm>
            <a:off x="1008318" y="5501088"/>
            <a:ext cx="228128" cy="208063"/>
          </a:xfrm>
          <a:prstGeom prst="rect">
            <a:avLst/>
          </a:prstGeom>
          <a:solidFill>
            <a:srgbClr val="DBDCE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4564</TotalTime>
  <Words>197</Words>
  <Application>Microsoft Office PowerPoint</Application>
  <PresentationFormat>A4 용지(210x297mm)</PresentationFormat>
  <Paragraphs>43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맑은 고딕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111</cp:revision>
  <cp:lastPrinted>2025-12-04T00:07:00Z</cp:lastPrinted>
  <dcterms:created xsi:type="dcterms:W3CDTF">2014-04-25T06:32:56Z</dcterms:created>
  <dcterms:modified xsi:type="dcterms:W3CDTF">2025-12-22T09:28:41Z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