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1203" r:id="rId2"/>
    <p:sldId id="1204" r:id="rId3"/>
  </p:sldIdLst>
  <p:sldSz cx="9906000" cy="6858000" type="A4"/>
  <p:notesSz cx="9866313" cy="67357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122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explosion val="1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D2-4128-A7B7-562AE1D8A27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Sheet1!$A$2:$A$10</c:f>
              <c:strCache>
                <c:ptCount val="9"/>
                <c:pt idx="0">
                  <c:v>인건비</c:v>
                </c:pt>
                <c:pt idx="2">
                  <c:v>시설, 장비</c:v>
                </c:pt>
                <c:pt idx="4">
                  <c:v>연구재료비</c:v>
                </c:pt>
                <c:pt idx="6">
                  <c:v>연구활동비 (장학금)</c:v>
                </c:pt>
                <c:pt idx="8">
                  <c:v>연구활동비 (장학금 외)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 formatCode="#,##0">
                  <c:v>401299</c:v>
                </c:pt>
                <c:pt idx="2" formatCode="#,##0">
                  <c:v>1250357</c:v>
                </c:pt>
                <c:pt idx="4" formatCode="#,##0">
                  <c:v>108040</c:v>
                </c:pt>
                <c:pt idx="6" formatCode="#,##0">
                  <c:v>683000</c:v>
                </c:pt>
                <c:pt idx="8" formatCode="#,##0">
                  <c:v>469391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D2-4128-A7B7-562AE1D8A2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4275402" cy="336788"/>
          </a:xfrm>
          <a:prstGeom prst="rect">
            <a:avLst/>
          </a:prstGeom>
        </p:spPr>
        <p:txBody>
          <a:bodyPr vert="horz" lIns="90745" tIns="45373" rIns="90745" bIns="4537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8631" y="0"/>
            <a:ext cx="4275402" cy="336788"/>
          </a:xfrm>
          <a:prstGeom prst="rect">
            <a:avLst/>
          </a:prstGeom>
        </p:spPr>
        <p:txBody>
          <a:bodyPr vert="horz" lIns="90745" tIns="45373" rIns="90745" bIns="45373" rtlCol="0"/>
          <a:lstStyle>
            <a:lvl1pPr algn="r">
              <a:defRPr sz="1200"/>
            </a:lvl1pPr>
          </a:lstStyle>
          <a:p>
            <a:fld id="{3CD2ACDA-7BB5-4D83-9D1E-40BA6ED2D672}" type="datetimeFigureOut">
              <a:rPr lang="ko-KR" altLang="en-US" smtClean="0"/>
              <a:pPr/>
              <a:t>2025-12-01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6397806"/>
            <a:ext cx="4275402" cy="336788"/>
          </a:xfrm>
          <a:prstGeom prst="rect">
            <a:avLst/>
          </a:prstGeom>
        </p:spPr>
        <p:txBody>
          <a:bodyPr vert="horz" lIns="90745" tIns="45373" rIns="90745" bIns="4537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8631" y="6397806"/>
            <a:ext cx="4275402" cy="336788"/>
          </a:xfrm>
          <a:prstGeom prst="rect">
            <a:avLst/>
          </a:prstGeom>
        </p:spPr>
        <p:txBody>
          <a:bodyPr vert="horz" lIns="90745" tIns="45373" rIns="90745" bIns="45373" rtlCol="0" anchor="b"/>
          <a:lstStyle>
            <a:lvl1pPr algn="r">
              <a:defRPr sz="12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4275402" cy="337958"/>
          </a:xfrm>
          <a:prstGeom prst="rect">
            <a:avLst/>
          </a:prstGeom>
        </p:spPr>
        <p:txBody>
          <a:bodyPr vert="horz" lIns="90745" tIns="45373" rIns="90745" bIns="4537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31" y="1"/>
            <a:ext cx="4275402" cy="337958"/>
          </a:xfrm>
          <a:prstGeom prst="rect">
            <a:avLst/>
          </a:prstGeom>
        </p:spPr>
        <p:txBody>
          <a:bodyPr vert="horz" lIns="90745" tIns="45373" rIns="90745" bIns="45373" rtlCol="0"/>
          <a:lstStyle>
            <a:lvl1pPr algn="r">
              <a:defRPr sz="1200"/>
            </a:lvl1pPr>
          </a:lstStyle>
          <a:p>
            <a:fld id="{1932AF9E-6075-47ED-A5F2-B86042DA2162}" type="datetimeFigureOut">
              <a:rPr lang="ko-KR" altLang="en-US" smtClean="0"/>
              <a:pPr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92475" y="842963"/>
            <a:ext cx="3281363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45" tIns="45373" rIns="90745" bIns="4537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3" y="3241591"/>
            <a:ext cx="7893050" cy="2652207"/>
          </a:xfrm>
          <a:prstGeom prst="rect">
            <a:avLst/>
          </a:prstGeom>
        </p:spPr>
        <p:txBody>
          <a:bodyPr vert="horz" lIns="90745" tIns="45373" rIns="90745" bIns="4537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6397806"/>
            <a:ext cx="4275402" cy="337958"/>
          </a:xfrm>
          <a:prstGeom prst="rect">
            <a:avLst/>
          </a:prstGeom>
        </p:spPr>
        <p:txBody>
          <a:bodyPr vert="horz" lIns="90745" tIns="45373" rIns="90745" bIns="4537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31" y="6397806"/>
            <a:ext cx="4275402" cy="337958"/>
          </a:xfrm>
          <a:prstGeom prst="rect">
            <a:avLst/>
          </a:prstGeom>
        </p:spPr>
        <p:txBody>
          <a:bodyPr vert="horz" lIns="90745" tIns="45373" rIns="90745" bIns="45373" rtlCol="0" anchor="b"/>
          <a:lstStyle>
            <a:lvl1pPr algn="r">
              <a:defRPr sz="12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08011AB-D376-79E9-40FF-B0FFE9BE4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22"/>
            <a:ext cx="9906000" cy="4959310"/>
          </a:xfrm>
          <a:prstGeom prst="rect">
            <a:avLst/>
          </a:prstGeom>
        </p:spPr>
      </p:pic>
      <p:sp>
        <p:nvSpPr>
          <p:cNvPr id="9" name="원호 8">
            <a:extLst>
              <a:ext uri="{FF2B5EF4-FFF2-40B4-BE49-F238E27FC236}">
                <a16:creationId xmlns:a16="http://schemas.microsoft.com/office/drawing/2014/main" id="{6BFAC8B6-BA70-B840-C9AD-C9248E3F5D7C}"/>
              </a:ext>
            </a:extLst>
          </p:cNvPr>
          <p:cNvSpPr/>
          <p:nvPr/>
        </p:nvSpPr>
        <p:spPr bwMode="auto">
          <a:xfrm>
            <a:off x="5874543" y="1567556"/>
            <a:ext cx="217348" cy="217492"/>
          </a:xfrm>
          <a:prstGeom prst="arc">
            <a:avLst>
              <a:gd name="adj1" fmla="val 16200000"/>
              <a:gd name="adj2" fmla="val 5151414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16646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16646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313648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545372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281305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12819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281305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12819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16646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F1380B-36A5-33AB-1374-7C3D3B1435EB}"/>
              </a:ext>
            </a:extLst>
          </p:cNvPr>
          <p:cNvSpPr txBox="1"/>
          <p:nvPr/>
        </p:nvSpPr>
        <p:spPr>
          <a:xfrm>
            <a:off x="539750" y="5161059"/>
            <a:ext cx="8242300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STOB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리그 경진대회 수상자 해외연수 대상자가 없는 관계로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천만원 예산 확보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(Δ:</a:t>
            </a:r>
            <a:r>
              <a:rPr lang="en-US" altLang="ko-KR" sz="105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-10,000 </a:t>
            </a:r>
            <a:r>
              <a:rPr lang="ko-KR" altLang="en-US" sz="105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유니위크 분담금 지불 완료 등 현 시점 소진율 반영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(86.8% -&gt; 93.4%)</a:t>
            </a:r>
            <a:b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예정 사용 내용 업데이트</a:t>
            </a:r>
            <a:endParaRPr lang="en-US" altLang="ko-KR" sz="105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r">
              <a:spcAft>
                <a:spcPts val="600"/>
              </a:spcAft>
            </a:pP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 </a:t>
            </a:r>
            <a:r>
              <a:rPr lang="ko-KR" altLang="en-US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그외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10</a:t>
            </a:r>
            <a:r>
              <a:rPr lang="ko-KR" altLang="en-US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가량 예산 구체화 진행 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(A4</a:t>
            </a:r>
            <a:r>
              <a:rPr lang="ko-KR" altLang="en-US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용지 추가 구매 등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(Δ:</a:t>
            </a:r>
            <a:r>
              <a:rPr lang="en-US" altLang="ko-KR" sz="9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+10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0 </a:t>
            </a:r>
            <a:r>
              <a:rPr lang="ko-KR" altLang="en-US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en-US" altLang="ko-KR" sz="9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57178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57178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557178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12819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281305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281305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687F1-CBCB-7244-C1DA-C7D9DF40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9960B2-D043-DEFA-B249-DA321C46AFF1}"/>
              </a:ext>
            </a:extLst>
          </p:cNvPr>
          <p:cNvSpPr txBox="1"/>
          <p:nvPr/>
        </p:nvSpPr>
        <p:spPr>
          <a:xfrm>
            <a:off x="0" y="209004"/>
            <a:ext cx="9906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3600" b="1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차년도 예산 소진 내역</a:t>
            </a:r>
            <a:r>
              <a:rPr lang="en-US" altLang="ko-KR" sz="3600" b="1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3600" b="1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및 향후 집행계획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B37EABD8-5E39-B2B1-7DA2-EA3A6F4D57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8068621"/>
              </p:ext>
            </p:extLst>
          </p:nvPr>
        </p:nvGraphicFramePr>
        <p:xfrm>
          <a:off x="1651000" y="1227666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89383934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4363</TotalTime>
  <Words>75</Words>
  <Application>Microsoft Office PowerPoint</Application>
  <PresentationFormat>A4 용지(210x297mm)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90</cp:revision>
  <cp:lastPrinted>2025-11-27T01:10:08Z</cp:lastPrinted>
  <dcterms:created xsi:type="dcterms:W3CDTF">2014-04-25T06:32:56Z</dcterms:created>
  <dcterms:modified xsi:type="dcterms:W3CDTF">2025-12-01T08:27:02Z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